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1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3" d="100"/>
          <a:sy n="83" d="100"/>
        </p:scale>
        <p:origin x="34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33E3-1B3B-AB89-8152-14F83130D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D89CC-B7B9-50C9-ED0A-BC161A853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4BD7F-E38B-1020-8EF5-03EB3686A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FC04F-4499-AE2E-A847-4CABBBA46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06BFD-BFAF-1F35-9517-5C4EB11C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0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1D8F-579E-471A-F611-293FF5AF7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3E002-864F-F933-D487-2C2495F8B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5970C-37A4-BE25-9B63-A0150616C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7E77-A675-8AFC-37DA-1EF217D39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A8866-6BFA-7BB5-91B9-893C30B0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4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48E10-BDF5-2C04-AEC3-791D51B91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E306E-5D6B-59C7-1E2C-DD10DD82B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2E00C-15B6-AA7F-2485-C659CBCE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EBBB4-8934-5796-5455-0BA6F921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0BC3B-BE29-77DE-4B5C-D814BF6C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54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6802-B70F-BCB6-39D0-36327D61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6BEBC-E486-62B6-EBC2-D7534BC76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1A63B-1905-9CBB-93B9-E45847719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5FBC7-49FF-8807-5A82-429A1544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010F8-9017-2054-BC71-5A804154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B2BAE-6F9E-9105-BE11-FF2D5132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4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3C44C-2DD1-7CE4-423E-32D6DB0F6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F6A5A-0943-B32A-9997-57E31B200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25CF3-422A-E9BC-6F34-0B254940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21DC5-83B0-061E-65D7-9AE888DD9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6F727-37F9-24B2-E616-9D5311087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33D22-3044-2CB3-9F67-2849464FD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AD5FF0-2D7F-D87F-A5A5-D4809EB4F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A8462-E946-1EAC-C15F-CE50647D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5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27C5-9F71-3CA5-35BC-E2FAEFD8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9A438-0727-E4A9-EB85-4D84C788A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FB420-9237-50FC-62A7-BBFBF67C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E308A-D501-22BC-BE6A-8592A7E7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70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92286A-11E2-408A-9D1A-8F3B0108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93D8-7546-5695-896B-4F0F36DF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A04B1-6701-54BA-06DB-9FEF8882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3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9DDD-FC41-9E47-1C93-D5DF1129D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1036D-DC44-0C3A-FC73-ADB379E70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C3A9C-B262-59A9-643D-C2A49CCDC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E18DE-940A-5526-6072-44C221A8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DC2C8-DEF7-618E-A819-1DF0B9DB3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BCFC6-FF33-401E-7C47-B7E8CD0F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5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5B01-F95C-9B92-6A15-C365D8C1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2809D-F10C-13DF-1F02-61DB3DAECA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0793D-6F01-BDB0-1EDA-9A8D5D031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1E8FB-D702-A01A-8936-6254FA8D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06EC2-5789-0D4A-B6BC-1FF63BF6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2C010-B0B9-EC94-16E5-A7F5E5B2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90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9B1C-9368-5949-F29F-20344AB94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09A76-CB2D-760D-888A-CB3B38C3D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55596-BC08-C82B-77F0-220B0B0CA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0BA1D-3754-490C-4DF6-6B4214B87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BC15E-6CFA-754F-1C34-3F65F608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2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F3006C-59E0-3449-AC5C-3E115D575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C3D1C5-619D-7EB8-ABFC-CE66A5953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9CD36-CB49-15B4-9CDC-E1408824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6DCC1-F44F-79C2-E6BC-2DDF11AA7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EB174-ACBE-2B9B-2350-F778F721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1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C124DF-30A0-2C74-7CDD-7AFD28D7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35C17-9936-4EC6-F8B1-3412B840A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0BBF1-C49E-B52F-1F47-713E7E630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819EC-931C-4614-A601-97214C59AAA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D3ADE-5D6B-C2C0-45ED-BE25E67EC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D2613-3BC6-6544-7E64-4425594EE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CEACF-25D1-45C6-9AA5-8418EDF57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88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F741-1410-B786-3566-97044FF91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LEAN Deployment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2658C-8823-CDF3-6A9F-CC82F14EFE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5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D38F35D-F2FD-8249-B67A-B6F2B9FC2EE8}"/>
              </a:ext>
            </a:extLst>
          </p:cNvPr>
          <p:cNvSpPr/>
          <p:nvPr/>
        </p:nvSpPr>
        <p:spPr>
          <a:xfrm>
            <a:off x="28577" y="1228725"/>
            <a:ext cx="12161056" cy="5521325"/>
          </a:xfrm>
          <a:prstGeom prst="rect">
            <a:avLst/>
          </a:prstGeom>
          <a:noFill/>
          <a:ln w="3175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DDE55-752E-204D-8605-042D683A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44" y="81972"/>
            <a:ext cx="10163175" cy="996638"/>
          </a:xfrm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Lean Transformation Deployment Framework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A82BBC-27BE-9D4B-9285-DEBD95D5F33D}"/>
              </a:ext>
            </a:extLst>
          </p:cNvPr>
          <p:cNvSpPr/>
          <p:nvPr/>
        </p:nvSpPr>
        <p:spPr>
          <a:xfrm>
            <a:off x="126193" y="1409686"/>
            <a:ext cx="9072578" cy="17621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tx1"/>
                </a:solidFill>
              </a:rPr>
              <a:t>Deployment Planning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291ED-367C-6E4F-9F68-1A65613CCE5D}"/>
              </a:ext>
            </a:extLst>
          </p:cNvPr>
          <p:cNvSpPr/>
          <p:nvPr/>
        </p:nvSpPr>
        <p:spPr>
          <a:xfrm>
            <a:off x="142858" y="3224216"/>
            <a:ext cx="9072569" cy="11477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/>
              <a:t>Driving Lean Culture</a:t>
            </a:r>
          </a:p>
          <a:p>
            <a:r>
              <a:rPr lang="en-US" sz="1600" dirty="0"/>
              <a:t>Daily Operating System, 5S, SIM, Visual management, Mistake Proofing, Leaders  Standard work, Standard work, TPM, Pull System, SIM – Short Interval management, Monthly Operating 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2B9FEB-08D0-D046-AA56-18B629F70F64}"/>
              </a:ext>
            </a:extLst>
          </p:cNvPr>
          <p:cNvSpPr/>
          <p:nvPr/>
        </p:nvSpPr>
        <p:spPr>
          <a:xfrm>
            <a:off x="157147" y="4457705"/>
            <a:ext cx="9072568" cy="2219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80BBE76F-2F64-2A41-BCB5-07C005CF8AA5}"/>
              </a:ext>
            </a:extLst>
          </p:cNvPr>
          <p:cNvSpPr/>
          <p:nvPr/>
        </p:nvSpPr>
        <p:spPr>
          <a:xfrm>
            <a:off x="257163" y="1871667"/>
            <a:ext cx="2428879" cy="1185863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Lean Road Map, Lean Training Material &amp; Set Up CI organization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48608794-8B54-CA43-9C93-425AEBE4A1D1}"/>
              </a:ext>
            </a:extLst>
          </p:cNvPr>
          <p:cNvSpPr/>
          <p:nvPr/>
        </p:nvSpPr>
        <p:spPr>
          <a:xfrm>
            <a:off x="2171687" y="1885952"/>
            <a:ext cx="2657488" cy="1171578"/>
          </a:xfrm>
          <a:prstGeom prst="chevron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Lean Awareness for Lean Coaches &amp; Leadership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354691-245F-5243-B1C8-482154DEC4E7}"/>
              </a:ext>
            </a:extLst>
          </p:cNvPr>
          <p:cNvCxnSpPr>
            <a:cxnSpLocks/>
          </p:cNvCxnSpPr>
          <p:nvPr/>
        </p:nvCxnSpPr>
        <p:spPr>
          <a:xfrm>
            <a:off x="4841086" y="1528763"/>
            <a:ext cx="0" cy="16430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entagon 11">
            <a:extLst>
              <a:ext uri="{FF2B5EF4-FFF2-40B4-BE49-F238E27FC236}">
                <a16:creationId xmlns:a16="http://schemas.microsoft.com/office/drawing/2014/main" id="{DFC6BAF2-9B7D-1E4A-8DB7-22B9D97CB1A6}"/>
              </a:ext>
            </a:extLst>
          </p:cNvPr>
          <p:cNvSpPr/>
          <p:nvPr/>
        </p:nvSpPr>
        <p:spPr>
          <a:xfrm>
            <a:off x="4898238" y="1838322"/>
            <a:ext cx="2428879" cy="1214437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7200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Opportunities  Identification VOC, VOE, VSM, Biz Review, Hoshin </a:t>
            </a:r>
            <a:r>
              <a:rPr lang="en-US" sz="1600" dirty="0" err="1">
                <a:solidFill>
                  <a:schemeClr val="bg1"/>
                </a:solidFill>
              </a:rPr>
              <a:t>Kanri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Chevron 12">
            <a:extLst>
              <a:ext uri="{FF2B5EF4-FFF2-40B4-BE49-F238E27FC236}">
                <a16:creationId xmlns:a16="http://schemas.microsoft.com/office/drawing/2014/main" id="{9854E9E0-2B83-A94B-8D09-C1FCD9C865CA}"/>
              </a:ext>
            </a:extLst>
          </p:cNvPr>
          <p:cNvSpPr/>
          <p:nvPr/>
        </p:nvSpPr>
        <p:spPr>
          <a:xfrm>
            <a:off x="6810398" y="1838322"/>
            <a:ext cx="2388373" cy="1185862"/>
          </a:xfrm>
          <a:prstGeom prst="chevron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Execute Projects using 3-1-3 Methodology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BE5F99-BE3B-E341-B718-B519FD7FF184}"/>
              </a:ext>
            </a:extLst>
          </p:cNvPr>
          <p:cNvSpPr txBox="1"/>
          <p:nvPr/>
        </p:nvSpPr>
        <p:spPr>
          <a:xfrm>
            <a:off x="4814879" y="1504967"/>
            <a:ext cx="1115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Execution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E557F591-701A-AA47-9D46-FFBE45B24741}"/>
              </a:ext>
            </a:extLst>
          </p:cNvPr>
          <p:cNvSpPr/>
          <p:nvPr/>
        </p:nvSpPr>
        <p:spPr>
          <a:xfrm>
            <a:off x="257163" y="4810143"/>
            <a:ext cx="1989309" cy="852484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7200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Lean training</a:t>
            </a: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43E02BEE-DB8E-F247-9078-01AE4388383A}"/>
              </a:ext>
            </a:extLst>
          </p:cNvPr>
          <p:cNvSpPr/>
          <p:nvPr/>
        </p:nvSpPr>
        <p:spPr>
          <a:xfrm>
            <a:off x="1938310" y="4795851"/>
            <a:ext cx="1847853" cy="842216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Select Project and Team</a:t>
            </a: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9E5B5A7B-1FC4-3844-AE9F-CFBB72986513}"/>
              </a:ext>
            </a:extLst>
          </p:cNvPr>
          <p:cNvSpPr/>
          <p:nvPr/>
        </p:nvSpPr>
        <p:spPr>
          <a:xfrm>
            <a:off x="3562323" y="4776797"/>
            <a:ext cx="1914525" cy="842216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Coaching Pre&amp; During Kaizen Event</a:t>
            </a: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DA744AE6-7EA4-D744-91B6-DE5D15C9A4B1}"/>
              </a:ext>
            </a:extLst>
          </p:cNvPr>
          <p:cNvSpPr/>
          <p:nvPr/>
        </p:nvSpPr>
        <p:spPr>
          <a:xfrm>
            <a:off x="5257775" y="4772031"/>
            <a:ext cx="2069342" cy="842216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3600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Project Monitoring and Implementation</a:t>
            </a: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815DB422-6B30-2E4C-9B28-3E3C2940C735}"/>
              </a:ext>
            </a:extLst>
          </p:cNvPr>
          <p:cNvSpPr/>
          <p:nvPr/>
        </p:nvSpPr>
        <p:spPr>
          <a:xfrm>
            <a:off x="7034189" y="4767266"/>
            <a:ext cx="2164581" cy="842216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Instil</a:t>
            </a:r>
            <a:r>
              <a:rPr lang="en-US" sz="1400" dirty="0">
                <a:solidFill>
                  <a:schemeClr val="bg1"/>
                </a:solidFill>
              </a:rPr>
              <a:t> Daily Operating System and Std 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81CA15-21D8-084B-8284-35B9642A7FCC}"/>
              </a:ext>
            </a:extLst>
          </p:cNvPr>
          <p:cNvSpPr txBox="1"/>
          <p:nvPr/>
        </p:nvSpPr>
        <p:spPr>
          <a:xfrm>
            <a:off x="223817" y="4457728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Building Lean DNA</a:t>
            </a:r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47921AE8-011A-2348-9579-743B10863BC7}"/>
              </a:ext>
            </a:extLst>
          </p:cNvPr>
          <p:cNvSpPr/>
          <p:nvPr/>
        </p:nvSpPr>
        <p:spPr>
          <a:xfrm>
            <a:off x="266686" y="5862659"/>
            <a:ext cx="1914525" cy="728655"/>
          </a:xfrm>
          <a:prstGeom prst="homePlate">
            <a:avLst/>
          </a:prstGeom>
          <a:solidFill>
            <a:srgbClr val="E67B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7200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Integrate Lean in KPIs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B3BD1D1D-8EFB-7444-8F07-CCACCCA89D62}"/>
              </a:ext>
            </a:extLst>
          </p:cNvPr>
          <p:cNvSpPr/>
          <p:nvPr/>
        </p:nvSpPr>
        <p:spPr>
          <a:xfrm>
            <a:off x="3209925" y="5719783"/>
            <a:ext cx="2047850" cy="852484"/>
          </a:xfrm>
          <a:prstGeom prst="homePlate">
            <a:avLst/>
          </a:prstGeom>
          <a:solidFill>
            <a:srgbClr val="E67B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HR Review Competency Including Leadership</a:t>
            </a:r>
          </a:p>
        </p:txBody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FA5D981C-A836-1449-B1EC-E5090BF0569C}"/>
              </a:ext>
            </a:extLst>
          </p:cNvPr>
          <p:cNvSpPr/>
          <p:nvPr/>
        </p:nvSpPr>
        <p:spPr>
          <a:xfrm>
            <a:off x="4891071" y="5705491"/>
            <a:ext cx="2536061" cy="842216"/>
          </a:xfrm>
          <a:prstGeom prst="chevron">
            <a:avLst/>
          </a:prstGeom>
          <a:solidFill>
            <a:srgbClr val="E67B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36000" bIns="3600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Identify Development Needs and Plan Interventions</a:t>
            </a:r>
          </a:p>
        </p:txBody>
      </p:sp>
      <p:sp>
        <p:nvSpPr>
          <p:cNvPr id="26" name="Chevron 25">
            <a:extLst>
              <a:ext uri="{FF2B5EF4-FFF2-40B4-BE49-F238E27FC236}">
                <a16:creationId xmlns:a16="http://schemas.microsoft.com/office/drawing/2014/main" id="{D5777365-0DA1-8C4B-8360-49C56DCF7E7B}"/>
              </a:ext>
            </a:extLst>
          </p:cNvPr>
          <p:cNvSpPr/>
          <p:nvPr/>
        </p:nvSpPr>
        <p:spPr>
          <a:xfrm>
            <a:off x="7115165" y="5686437"/>
            <a:ext cx="1914525" cy="842216"/>
          </a:xfrm>
          <a:prstGeom prst="chevron">
            <a:avLst/>
          </a:prstGeom>
          <a:solidFill>
            <a:srgbClr val="E67B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36000" bIns="3600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Certify, Award and Promote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8F99DD-71B3-064A-9468-4BFD2DF43DE2}"/>
              </a:ext>
            </a:extLst>
          </p:cNvPr>
          <p:cNvSpPr txBox="1"/>
          <p:nvPr/>
        </p:nvSpPr>
        <p:spPr>
          <a:xfrm>
            <a:off x="9324967" y="1409686"/>
            <a:ext cx="2740840" cy="5267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endParaRPr lang="en-US" sz="1700" dirty="0"/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Business Leaders Continuously Select CI Projects that support Biz. Objectives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/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Participate and Encourage Kaizen Events and Lean Practices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/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Establish and implement Standard work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/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Business Review in Line with Lean Methodology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/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HR identifies High Potential based on Lean Project results delivery and incorporates into Career Pathing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A2F846-68BB-8548-BB35-F81C0DF6E870}"/>
              </a:ext>
            </a:extLst>
          </p:cNvPr>
          <p:cNvSpPr txBox="1"/>
          <p:nvPr/>
        </p:nvSpPr>
        <p:spPr>
          <a:xfrm>
            <a:off x="9334491" y="1415858"/>
            <a:ext cx="274084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Sustain Through Leadership</a:t>
            </a:r>
          </a:p>
        </p:txBody>
      </p:sp>
    </p:spTree>
    <p:extLst>
      <p:ext uri="{BB962C8B-B14F-4D97-AF65-F5344CB8AC3E}">
        <p14:creationId xmlns:p14="http://schemas.microsoft.com/office/powerpoint/2010/main" val="3473899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180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LEAN Deployment framework</vt:lpstr>
      <vt:lpstr>Lean Transformation Deployment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Doshi</dc:creator>
  <cp:lastModifiedBy>Amit Doshi</cp:lastModifiedBy>
  <cp:revision>1</cp:revision>
  <dcterms:created xsi:type="dcterms:W3CDTF">2025-06-13T09:45:04Z</dcterms:created>
  <dcterms:modified xsi:type="dcterms:W3CDTF">2025-06-13T09:50:04Z</dcterms:modified>
</cp:coreProperties>
</file>